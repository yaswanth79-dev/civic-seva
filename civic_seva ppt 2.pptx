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640080" cy="2578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3017520"/>
            <a:ext cx="457200" cy="21214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2194560"/>
            <a:ext cx="822960" cy="2944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1783080" y="2743200"/>
            <a:ext cx="502920" cy="23957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2240280" y="2377440"/>
            <a:ext cx="640080" cy="27614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0" y="2651760"/>
            <a:ext cx="640080" cy="24871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7726680" y="2194560"/>
            <a:ext cx="822960" cy="2944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Shape 7"/>
          <p:cNvSpPr/>
          <p:nvPr/>
        </p:nvSpPr>
        <p:spPr>
          <a:xfrm>
            <a:off x="8503920" y="2743200"/>
            <a:ext cx="640080" cy="23957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" y="283464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109728" y="320040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9728" y="356616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256032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1143000" y="292608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329184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Shape 14"/>
          <p:cNvSpPr/>
          <p:nvPr/>
        </p:nvSpPr>
        <p:spPr>
          <a:xfrm>
            <a:off x="7863840" y="265176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7863840" y="301752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8595360" y="301752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8595360" y="338328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B.Tech Software Engineering — Major Project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68580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SEVA</a:t>
            </a:r>
            <a:endParaRPr lang="en-US" sz="6400" dirty="0"/>
          </a:p>
        </p:txBody>
      </p:sp>
      <p:sp>
        <p:nvSpPr>
          <p:cNvPr id="23" name="Text 21"/>
          <p:cNvSpPr/>
          <p:nvPr/>
        </p:nvSpPr>
        <p:spPr>
          <a:xfrm>
            <a:off x="365760" y="17830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Smart Civic Issue Reporting &amp; Resolution Platform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365760" y="2377440"/>
            <a:ext cx="4754880" cy="502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Shape 23"/>
          <p:cNvSpPr/>
          <p:nvPr/>
        </p:nvSpPr>
        <p:spPr>
          <a:xfrm>
            <a:off x="7680960" y="274320"/>
            <a:ext cx="1097280" cy="10972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47472"/>
            <a:ext cx="914400" cy="9144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365760" y="25146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</a:rPr>
              <a:t>TEAM MEMBERS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65760" y="2834640"/>
            <a:ext cx="4754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0F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P. Yashwant Kumar   —   24891A1245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0F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K. Vishwak   —   24891A1230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0F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M. Anil   —   24891A1237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0F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Aakash   —   24891A1250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365760" y="4069080"/>
            <a:ext cx="3657600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7"/>
          <p:cNvSpPr/>
          <p:nvPr/>
        </p:nvSpPr>
        <p:spPr>
          <a:xfrm>
            <a:off x="365760" y="406908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Project Guide:  Mr. Khaleel Sir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65760" y="46817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Academic Year 2024–25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5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55448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01168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1078992"/>
            <a:ext cx="2743200" cy="333756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Shape 3"/>
          <p:cNvSpPr/>
          <p:nvPr/>
        </p:nvSpPr>
        <p:spPr>
          <a:xfrm>
            <a:off x="822960" y="1078992"/>
            <a:ext cx="109728" cy="333756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7" name="Shape 4"/>
          <p:cNvSpPr/>
          <p:nvPr/>
        </p:nvSpPr>
        <p:spPr>
          <a:xfrm>
            <a:off x="1938528" y="1078992"/>
            <a:ext cx="109728" cy="333756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8" name="Shape 5"/>
          <p:cNvSpPr/>
          <p:nvPr/>
        </p:nvSpPr>
        <p:spPr>
          <a:xfrm>
            <a:off x="1234440" y="1828800"/>
            <a:ext cx="502920" cy="347472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9" name="Shape 6"/>
          <p:cNvSpPr/>
          <p:nvPr/>
        </p:nvSpPr>
        <p:spPr>
          <a:xfrm>
            <a:off x="1554480" y="2560320"/>
            <a:ext cx="502920" cy="347472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0" name="Shape 7"/>
          <p:cNvSpPr/>
          <p:nvPr/>
        </p:nvSpPr>
        <p:spPr>
          <a:xfrm>
            <a:off x="1005840" y="3108960"/>
            <a:ext cx="502920" cy="347472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1645920"/>
            <a:ext cx="109728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1737360"/>
            <a:ext cx="731520" cy="27432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60320" y="1280160"/>
            <a:ext cx="73152" cy="16459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Shape 11"/>
          <p:cNvSpPr/>
          <p:nvPr/>
        </p:nvSpPr>
        <p:spPr>
          <a:xfrm>
            <a:off x="2423160" y="1115568"/>
            <a:ext cx="347472" cy="182880"/>
          </a:xfrm>
          <a:prstGeom prst="ellipse">
            <a:avLst/>
          </a:prstGeom>
          <a:solidFill>
            <a:srgbClr val="FEF9C3"/>
          </a:solidFill>
          <a:ln/>
        </p:spPr>
      </p:sp>
      <p:sp>
        <p:nvSpPr>
          <p:cNvPr id="15" name="Shape 12"/>
          <p:cNvSpPr/>
          <p:nvPr/>
        </p:nvSpPr>
        <p:spPr>
          <a:xfrm>
            <a:off x="274320" y="4187952"/>
            <a:ext cx="2743200" cy="41148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6" name="Text 13"/>
          <p:cNvSpPr/>
          <p:nvPr/>
        </p:nvSpPr>
        <p:spPr>
          <a:xfrm>
            <a:off x="274320" y="418795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Real-world civic problems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46120" y="1078992"/>
            <a:ext cx="2670048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46120" y="1078992"/>
            <a:ext cx="2670048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Shape 16"/>
          <p:cNvSpPr/>
          <p:nvPr/>
        </p:nvSpPr>
        <p:spPr>
          <a:xfrm>
            <a:off x="3374136" y="1243584"/>
            <a:ext cx="475488" cy="47548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271016"/>
            <a:ext cx="402336" cy="40233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959352" y="124358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</a:rPr>
              <a:t>Potholes &amp; Road Damage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3374136" y="1792224"/>
            <a:ext cx="2450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Dangerous roads cause accidents; no unified mechanism to report &amp; track.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6080760" y="1078992"/>
            <a:ext cx="2670048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080760" y="1078992"/>
            <a:ext cx="2670048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5" name="Shape 21"/>
          <p:cNvSpPr/>
          <p:nvPr/>
        </p:nvSpPr>
        <p:spPr>
          <a:xfrm>
            <a:off x="6208776" y="1243584"/>
            <a:ext cx="475488" cy="475488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271016"/>
            <a:ext cx="402336" cy="40233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793992" y="124358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</a:rPr>
              <a:t>Street Light Failures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6208776" y="1792224"/>
            <a:ext cx="2450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Electrical outages persist for weeks with no accountability.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3246120" y="2770632"/>
            <a:ext cx="2670048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3246120" y="2770632"/>
            <a:ext cx="2670048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Shape 26"/>
          <p:cNvSpPr/>
          <p:nvPr/>
        </p:nvSpPr>
        <p:spPr>
          <a:xfrm>
            <a:off x="3374136" y="2935224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2962656"/>
            <a:ext cx="402336" cy="402336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3959352" y="293522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</a:rPr>
              <a:t>Water Leakage &amp; Sewage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3374136" y="3483864"/>
            <a:ext cx="2450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Water wastage and health hazards remain unaddressed for days.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6080760" y="2770632"/>
            <a:ext cx="2670048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6080760" y="2770632"/>
            <a:ext cx="2670048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Shape 31"/>
          <p:cNvSpPr/>
          <p:nvPr/>
        </p:nvSpPr>
        <p:spPr>
          <a:xfrm>
            <a:off x="6208776" y="2935224"/>
            <a:ext cx="475488" cy="475488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2962656"/>
            <a:ext cx="402336" cy="402336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793992" y="293522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</a:rPr>
              <a:t>Garbage &amp; Sanitation</a:t>
            </a:r>
            <a:endParaRPr lang="en-US" sz="1150" dirty="0"/>
          </a:p>
        </p:txBody>
      </p:sp>
      <p:sp>
        <p:nvSpPr>
          <p:cNvPr id="40" name="Text 33"/>
          <p:cNvSpPr/>
          <p:nvPr/>
        </p:nvSpPr>
        <p:spPr>
          <a:xfrm>
            <a:off x="6208776" y="3483864"/>
            <a:ext cx="2450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Overflowing bins cause disease; no complaints reach authorities.</a:t>
            </a:r>
            <a:endParaRPr lang="en-US" sz="1050" dirty="0"/>
          </a:p>
        </p:txBody>
      </p:sp>
      <p:sp>
        <p:nvSpPr>
          <p:cNvPr id="41" name="Shape 34"/>
          <p:cNvSpPr/>
          <p:nvPr/>
        </p:nvSpPr>
        <p:spPr>
          <a:xfrm>
            <a:off x="0" y="4462272"/>
            <a:ext cx="9144000" cy="4983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2" name="Text 35"/>
          <p:cNvSpPr/>
          <p:nvPr/>
        </p:nvSpPr>
        <p:spPr>
          <a:xfrm>
            <a:off x="274320" y="4462272"/>
            <a:ext cx="8595360" cy="498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Citizens have NO unified platform to report, track, or escalate civic complaints to responsible authorities.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" y="27432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0" y="27432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0" y="27432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2926080" y="27432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3566160" y="27432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4206240" y="27432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Shape 7"/>
          <p:cNvSpPr/>
          <p:nvPr/>
        </p:nvSpPr>
        <p:spPr>
          <a:xfrm>
            <a:off x="4846320" y="27432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0" y="27432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" name="Shape 9"/>
          <p:cNvSpPr/>
          <p:nvPr/>
        </p:nvSpPr>
        <p:spPr>
          <a:xfrm>
            <a:off x="6126480" y="27432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Shape 10"/>
          <p:cNvSpPr/>
          <p:nvPr/>
        </p:nvSpPr>
        <p:spPr>
          <a:xfrm>
            <a:off x="6766560" y="27432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Shape 11"/>
          <p:cNvSpPr/>
          <p:nvPr/>
        </p:nvSpPr>
        <p:spPr>
          <a:xfrm>
            <a:off x="7406640" y="27432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0" y="27432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0" y="27432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" y="91440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5840" y="91440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1645920" y="91440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9" name="Shape 17"/>
          <p:cNvSpPr/>
          <p:nvPr/>
        </p:nvSpPr>
        <p:spPr>
          <a:xfrm>
            <a:off x="2286000" y="91440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0" name="Shape 18"/>
          <p:cNvSpPr/>
          <p:nvPr/>
        </p:nvSpPr>
        <p:spPr>
          <a:xfrm>
            <a:off x="2926080" y="91440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1" name="Shape 19"/>
          <p:cNvSpPr/>
          <p:nvPr/>
        </p:nvSpPr>
        <p:spPr>
          <a:xfrm>
            <a:off x="3566160" y="91440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2" name="Shape 20"/>
          <p:cNvSpPr/>
          <p:nvPr/>
        </p:nvSpPr>
        <p:spPr>
          <a:xfrm>
            <a:off x="4206240" y="91440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3" name="Shape 21"/>
          <p:cNvSpPr/>
          <p:nvPr/>
        </p:nvSpPr>
        <p:spPr>
          <a:xfrm>
            <a:off x="4846320" y="91440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0" y="91440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5" name="Shape 23"/>
          <p:cNvSpPr/>
          <p:nvPr/>
        </p:nvSpPr>
        <p:spPr>
          <a:xfrm>
            <a:off x="6126480" y="91440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6" name="Shape 24"/>
          <p:cNvSpPr/>
          <p:nvPr/>
        </p:nvSpPr>
        <p:spPr>
          <a:xfrm>
            <a:off x="6766560" y="91440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7" name="Shape 25"/>
          <p:cNvSpPr/>
          <p:nvPr/>
        </p:nvSpPr>
        <p:spPr>
          <a:xfrm>
            <a:off x="7406640" y="91440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8" name="Shape 26"/>
          <p:cNvSpPr/>
          <p:nvPr/>
        </p:nvSpPr>
        <p:spPr>
          <a:xfrm>
            <a:off x="8046720" y="91440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9" name="Shape 27"/>
          <p:cNvSpPr/>
          <p:nvPr/>
        </p:nvSpPr>
        <p:spPr>
          <a:xfrm>
            <a:off x="8686800" y="91440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0" name="Shape 28"/>
          <p:cNvSpPr/>
          <p:nvPr/>
        </p:nvSpPr>
        <p:spPr>
          <a:xfrm>
            <a:off x="365760" y="155448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1" name="Shape 29"/>
          <p:cNvSpPr/>
          <p:nvPr/>
        </p:nvSpPr>
        <p:spPr>
          <a:xfrm>
            <a:off x="1005840" y="155448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2" name="Shape 30"/>
          <p:cNvSpPr/>
          <p:nvPr/>
        </p:nvSpPr>
        <p:spPr>
          <a:xfrm>
            <a:off x="1645920" y="155448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3" name="Shape 31"/>
          <p:cNvSpPr/>
          <p:nvPr/>
        </p:nvSpPr>
        <p:spPr>
          <a:xfrm>
            <a:off x="2286000" y="155448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4" name="Shape 32"/>
          <p:cNvSpPr/>
          <p:nvPr/>
        </p:nvSpPr>
        <p:spPr>
          <a:xfrm>
            <a:off x="2926080" y="155448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5" name="Shape 33"/>
          <p:cNvSpPr/>
          <p:nvPr/>
        </p:nvSpPr>
        <p:spPr>
          <a:xfrm>
            <a:off x="3566160" y="155448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6" name="Shape 34"/>
          <p:cNvSpPr/>
          <p:nvPr/>
        </p:nvSpPr>
        <p:spPr>
          <a:xfrm>
            <a:off x="4206240" y="155448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7" name="Shape 35"/>
          <p:cNvSpPr/>
          <p:nvPr/>
        </p:nvSpPr>
        <p:spPr>
          <a:xfrm>
            <a:off x="4846320" y="155448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8" name="Shape 36"/>
          <p:cNvSpPr/>
          <p:nvPr/>
        </p:nvSpPr>
        <p:spPr>
          <a:xfrm>
            <a:off x="5486400" y="155448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9" name="Shape 37"/>
          <p:cNvSpPr/>
          <p:nvPr/>
        </p:nvSpPr>
        <p:spPr>
          <a:xfrm>
            <a:off x="6126480" y="155448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0" name="Shape 38"/>
          <p:cNvSpPr/>
          <p:nvPr/>
        </p:nvSpPr>
        <p:spPr>
          <a:xfrm>
            <a:off x="6766560" y="155448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1" name="Shape 39"/>
          <p:cNvSpPr/>
          <p:nvPr/>
        </p:nvSpPr>
        <p:spPr>
          <a:xfrm>
            <a:off x="7406640" y="155448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2" name="Shape 40"/>
          <p:cNvSpPr/>
          <p:nvPr/>
        </p:nvSpPr>
        <p:spPr>
          <a:xfrm>
            <a:off x="8046720" y="155448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3" name="Shape 41"/>
          <p:cNvSpPr/>
          <p:nvPr/>
        </p:nvSpPr>
        <p:spPr>
          <a:xfrm>
            <a:off x="8686800" y="155448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4" name="Shape 42"/>
          <p:cNvSpPr/>
          <p:nvPr/>
        </p:nvSpPr>
        <p:spPr>
          <a:xfrm>
            <a:off x="365760" y="219456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5" name="Shape 43"/>
          <p:cNvSpPr/>
          <p:nvPr/>
        </p:nvSpPr>
        <p:spPr>
          <a:xfrm>
            <a:off x="1005840" y="219456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6" name="Shape 44"/>
          <p:cNvSpPr/>
          <p:nvPr/>
        </p:nvSpPr>
        <p:spPr>
          <a:xfrm>
            <a:off x="1645920" y="219456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7" name="Shape 45"/>
          <p:cNvSpPr/>
          <p:nvPr/>
        </p:nvSpPr>
        <p:spPr>
          <a:xfrm>
            <a:off x="2286000" y="219456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8" name="Shape 46"/>
          <p:cNvSpPr/>
          <p:nvPr/>
        </p:nvSpPr>
        <p:spPr>
          <a:xfrm>
            <a:off x="2926080" y="219456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9" name="Shape 47"/>
          <p:cNvSpPr/>
          <p:nvPr/>
        </p:nvSpPr>
        <p:spPr>
          <a:xfrm>
            <a:off x="3566160" y="219456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0" name="Shape 48"/>
          <p:cNvSpPr/>
          <p:nvPr/>
        </p:nvSpPr>
        <p:spPr>
          <a:xfrm>
            <a:off x="4206240" y="219456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1" name="Shape 49"/>
          <p:cNvSpPr/>
          <p:nvPr/>
        </p:nvSpPr>
        <p:spPr>
          <a:xfrm>
            <a:off x="4846320" y="219456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2" name="Shape 50"/>
          <p:cNvSpPr/>
          <p:nvPr/>
        </p:nvSpPr>
        <p:spPr>
          <a:xfrm>
            <a:off x="5486400" y="219456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3" name="Shape 51"/>
          <p:cNvSpPr/>
          <p:nvPr/>
        </p:nvSpPr>
        <p:spPr>
          <a:xfrm>
            <a:off x="6126480" y="219456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4" name="Shape 52"/>
          <p:cNvSpPr/>
          <p:nvPr/>
        </p:nvSpPr>
        <p:spPr>
          <a:xfrm>
            <a:off x="6766560" y="219456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5" name="Shape 53"/>
          <p:cNvSpPr/>
          <p:nvPr/>
        </p:nvSpPr>
        <p:spPr>
          <a:xfrm>
            <a:off x="7406640" y="219456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6" name="Shape 54"/>
          <p:cNvSpPr/>
          <p:nvPr/>
        </p:nvSpPr>
        <p:spPr>
          <a:xfrm>
            <a:off x="8046720" y="219456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7" name="Shape 55"/>
          <p:cNvSpPr/>
          <p:nvPr/>
        </p:nvSpPr>
        <p:spPr>
          <a:xfrm>
            <a:off x="8686800" y="219456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8" name="Shape 56"/>
          <p:cNvSpPr/>
          <p:nvPr/>
        </p:nvSpPr>
        <p:spPr>
          <a:xfrm>
            <a:off x="365760" y="283464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9" name="Shape 57"/>
          <p:cNvSpPr/>
          <p:nvPr/>
        </p:nvSpPr>
        <p:spPr>
          <a:xfrm>
            <a:off x="1005840" y="283464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0" name="Shape 58"/>
          <p:cNvSpPr/>
          <p:nvPr/>
        </p:nvSpPr>
        <p:spPr>
          <a:xfrm>
            <a:off x="1645920" y="283464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1" name="Shape 59"/>
          <p:cNvSpPr/>
          <p:nvPr/>
        </p:nvSpPr>
        <p:spPr>
          <a:xfrm>
            <a:off x="2286000" y="283464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2" name="Shape 60"/>
          <p:cNvSpPr/>
          <p:nvPr/>
        </p:nvSpPr>
        <p:spPr>
          <a:xfrm>
            <a:off x="2926080" y="283464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3" name="Shape 61"/>
          <p:cNvSpPr/>
          <p:nvPr/>
        </p:nvSpPr>
        <p:spPr>
          <a:xfrm>
            <a:off x="3566160" y="283464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4" name="Shape 62"/>
          <p:cNvSpPr/>
          <p:nvPr/>
        </p:nvSpPr>
        <p:spPr>
          <a:xfrm>
            <a:off x="4206240" y="283464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5" name="Shape 63"/>
          <p:cNvSpPr/>
          <p:nvPr/>
        </p:nvSpPr>
        <p:spPr>
          <a:xfrm>
            <a:off x="4846320" y="283464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6" name="Shape 64"/>
          <p:cNvSpPr/>
          <p:nvPr/>
        </p:nvSpPr>
        <p:spPr>
          <a:xfrm>
            <a:off x="5486400" y="283464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7" name="Shape 65"/>
          <p:cNvSpPr/>
          <p:nvPr/>
        </p:nvSpPr>
        <p:spPr>
          <a:xfrm>
            <a:off x="6126480" y="283464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8" name="Shape 66"/>
          <p:cNvSpPr/>
          <p:nvPr/>
        </p:nvSpPr>
        <p:spPr>
          <a:xfrm>
            <a:off x="6766560" y="283464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9" name="Shape 67"/>
          <p:cNvSpPr/>
          <p:nvPr/>
        </p:nvSpPr>
        <p:spPr>
          <a:xfrm>
            <a:off x="7406640" y="283464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0" name="Shape 68"/>
          <p:cNvSpPr/>
          <p:nvPr/>
        </p:nvSpPr>
        <p:spPr>
          <a:xfrm>
            <a:off x="8046720" y="283464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1" name="Shape 69"/>
          <p:cNvSpPr/>
          <p:nvPr/>
        </p:nvSpPr>
        <p:spPr>
          <a:xfrm>
            <a:off x="8686800" y="283464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2" name="Shape 70"/>
          <p:cNvSpPr/>
          <p:nvPr/>
        </p:nvSpPr>
        <p:spPr>
          <a:xfrm>
            <a:off x="365760" y="347472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3" name="Shape 71"/>
          <p:cNvSpPr/>
          <p:nvPr/>
        </p:nvSpPr>
        <p:spPr>
          <a:xfrm>
            <a:off x="1005840" y="347472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4" name="Shape 72"/>
          <p:cNvSpPr/>
          <p:nvPr/>
        </p:nvSpPr>
        <p:spPr>
          <a:xfrm>
            <a:off x="1645920" y="347472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5" name="Shape 73"/>
          <p:cNvSpPr/>
          <p:nvPr/>
        </p:nvSpPr>
        <p:spPr>
          <a:xfrm>
            <a:off x="2286000" y="347472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6" name="Shape 74"/>
          <p:cNvSpPr/>
          <p:nvPr/>
        </p:nvSpPr>
        <p:spPr>
          <a:xfrm>
            <a:off x="2926080" y="347472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7" name="Shape 75"/>
          <p:cNvSpPr/>
          <p:nvPr/>
        </p:nvSpPr>
        <p:spPr>
          <a:xfrm>
            <a:off x="3566160" y="347472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8" name="Shape 76"/>
          <p:cNvSpPr/>
          <p:nvPr/>
        </p:nvSpPr>
        <p:spPr>
          <a:xfrm>
            <a:off x="4206240" y="347472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9" name="Shape 77"/>
          <p:cNvSpPr/>
          <p:nvPr/>
        </p:nvSpPr>
        <p:spPr>
          <a:xfrm>
            <a:off x="4846320" y="347472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0" name="Shape 78"/>
          <p:cNvSpPr/>
          <p:nvPr/>
        </p:nvSpPr>
        <p:spPr>
          <a:xfrm>
            <a:off x="5486400" y="347472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1" name="Shape 79"/>
          <p:cNvSpPr/>
          <p:nvPr/>
        </p:nvSpPr>
        <p:spPr>
          <a:xfrm>
            <a:off x="6126480" y="347472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2" name="Shape 80"/>
          <p:cNvSpPr/>
          <p:nvPr/>
        </p:nvSpPr>
        <p:spPr>
          <a:xfrm>
            <a:off x="6766560" y="347472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3" name="Shape 81"/>
          <p:cNvSpPr/>
          <p:nvPr/>
        </p:nvSpPr>
        <p:spPr>
          <a:xfrm>
            <a:off x="7406640" y="347472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4" name="Shape 82"/>
          <p:cNvSpPr/>
          <p:nvPr/>
        </p:nvSpPr>
        <p:spPr>
          <a:xfrm>
            <a:off x="8046720" y="347472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5" name="Shape 83"/>
          <p:cNvSpPr/>
          <p:nvPr/>
        </p:nvSpPr>
        <p:spPr>
          <a:xfrm>
            <a:off x="8686800" y="347472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6" name="Shape 84"/>
          <p:cNvSpPr/>
          <p:nvPr/>
        </p:nvSpPr>
        <p:spPr>
          <a:xfrm>
            <a:off x="365760" y="411480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7" name="Shape 85"/>
          <p:cNvSpPr/>
          <p:nvPr/>
        </p:nvSpPr>
        <p:spPr>
          <a:xfrm>
            <a:off x="1005840" y="411480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8" name="Shape 86"/>
          <p:cNvSpPr/>
          <p:nvPr/>
        </p:nvSpPr>
        <p:spPr>
          <a:xfrm>
            <a:off x="1645920" y="411480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9" name="Shape 87"/>
          <p:cNvSpPr/>
          <p:nvPr/>
        </p:nvSpPr>
        <p:spPr>
          <a:xfrm>
            <a:off x="2286000" y="411480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0" name="Shape 88"/>
          <p:cNvSpPr/>
          <p:nvPr/>
        </p:nvSpPr>
        <p:spPr>
          <a:xfrm>
            <a:off x="2926080" y="411480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1" name="Shape 89"/>
          <p:cNvSpPr/>
          <p:nvPr/>
        </p:nvSpPr>
        <p:spPr>
          <a:xfrm>
            <a:off x="3566160" y="411480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2" name="Shape 90"/>
          <p:cNvSpPr/>
          <p:nvPr/>
        </p:nvSpPr>
        <p:spPr>
          <a:xfrm>
            <a:off x="4206240" y="411480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411480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4" name="Shape 92"/>
          <p:cNvSpPr/>
          <p:nvPr/>
        </p:nvSpPr>
        <p:spPr>
          <a:xfrm>
            <a:off x="5486400" y="411480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5" name="Shape 93"/>
          <p:cNvSpPr/>
          <p:nvPr/>
        </p:nvSpPr>
        <p:spPr>
          <a:xfrm>
            <a:off x="6126480" y="411480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6" name="Shape 94"/>
          <p:cNvSpPr/>
          <p:nvPr/>
        </p:nvSpPr>
        <p:spPr>
          <a:xfrm>
            <a:off x="6766560" y="411480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7" name="Shape 95"/>
          <p:cNvSpPr/>
          <p:nvPr/>
        </p:nvSpPr>
        <p:spPr>
          <a:xfrm>
            <a:off x="7406640" y="411480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8" name="Shape 96"/>
          <p:cNvSpPr/>
          <p:nvPr/>
        </p:nvSpPr>
        <p:spPr>
          <a:xfrm>
            <a:off x="8046720" y="411480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9" name="Shape 97"/>
          <p:cNvSpPr/>
          <p:nvPr/>
        </p:nvSpPr>
        <p:spPr>
          <a:xfrm>
            <a:off x="8686800" y="411480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0" name="Shape 98"/>
          <p:cNvSpPr/>
          <p:nvPr/>
        </p:nvSpPr>
        <p:spPr>
          <a:xfrm>
            <a:off x="365760" y="475488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1" name="Shape 99"/>
          <p:cNvSpPr/>
          <p:nvPr/>
        </p:nvSpPr>
        <p:spPr>
          <a:xfrm>
            <a:off x="1005840" y="475488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645920" y="475488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3" name="Shape 101"/>
          <p:cNvSpPr/>
          <p:nvPr/>
        </p:nvSpPr>
        <p:spPr>
          <a:xfrm>
            <a:off x="2286000" y="475488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4" name="Shape 102"/>
          <p:cNvSpPr/>
          <p:nvPr/>
        </p:nvSpPr>
        <p:spPr>
          <a:xfrm>
            <a:off x="2926080" y="475488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5" name="Shape 103"/>
          <p:cNvSpPr/>
          <p:nvPr/>
        </p:nvSpPr>
        <p:spPr>
          <a:xfrm>
            <a:off x="3566160" y="475488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6" name="Shape 104"/>
          <p:cNvSpPr/>
          <p:nvPr/>
        </p:nvSpPr>
        <p:spPr>
          <a:xfrm>
            <a:off x="4206240" y="475488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7" name="Shape 105"/>
          <p:cNvSpPr/>
          <p:nvPr/>
        </p:nvSpPr>
        <p:spPr>
          <a:xfrm>
            <a:off x="4846320" y="475488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486400" y="475488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9" name="Shape 107"/>
          <p:cNvSpPr/>
          <p:nvPr/>
        </p:nvSpPr>
        <p:spPr>
          <a:xfrm>
            <a:off x="6126480" y="475488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0" name="Shape 108"/>
          <p:cNvSpPr/>
          <p:nvPr/>
        </p:nvSpPr>
        <p:spPr>
          <a:xfrm>
            <a:off x="6766560" y="475488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1" name="Shape 109"/>
          <p:cNvSpPr/>
          <p:nvPr/>
        </p:nvSpPr>
        <p:spPr>
          <a:xfrm>
            <a:off x="7406640" y="475488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2" name="Shape 110"/>
          <p:cNvSpPr/>
          <p:nvPr/>
        </p:nvSpPr>
        <p:spPr>
          <a:xfrm>
            <a:off x="8046720" y="475488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3" name="Shape 111"/>
          <p:cNvSpPr/>
          <p:nvPr/>
        </p:nvSpPr>
        <p:spPr>
          <a:xfrm>
            <a:off x="8686800" y="4754880"/>
            <a:ext cx="54864" cy="5486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4" name="Text 112"/>
          <p:cNvSpPr/>
          <p:nvPr/>
        </p:nvSpPr>
        <p:spPr>
          <a:xfrm>
            <a:off x="365760" y="1645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115" name="Shape 113"/>
          <p:cNvSpPr/>
          <p:nvPr/>
        </p:nvSpPr>
        <p:spPr>
          <a:xfrm>
            <a:off x="365760" y="822960"/>
            <a:ext cx="2011680" cy="502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6" name="Shape 114"/>
          <p:cNvSpPr/>
          <p:nvPr/>
        </p:nvSpPr>
        <p:spPr>
          <a:xfrm>
            <a:off x="365760" y="960120"/>
            <a:ext cx="416052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7" name="Shape 115"/>
          <p:cNvSpPr/>
          <p:nvPr/>
        </p:nvSpPr>
        <p:spPr>
          <a:xfrm>
            <a:off x="365760" y="960120"/>
            <a:ext cx="9144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8" name="Text 116"/>
          <p:cNvSpPr/>
          <p:nvPr/>
        </p:nvSpPr>
        <p:spPr>
          <a:xfrm>
            <a:off x="566928" y="1005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</a:rPr>
              <a:t>What is Civic Seva?</a:t>
            </a:r>
            <a:endParaRPr lang="en-US" sz="1500" dirty="0"/>
          </a:p>
        </p:txBody>
      </p:sp>
      <p:sp>
        <p:nvSpPr>
          <p:cNvPr id="119" name="Text 117"/>
          <p:cNvSpPr/>
          <p:nvPr/>
        </p:nvSpPr>
        <p:spPr>
          <a:xfrm>
            <a:off x="566928" y="137160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web-based citizen engagement platform that streamlines reporting, routing, and resolution of civic issues through smart automation and AI.</a:t>
            </a:r>
            <a:endParaRPr lang="en-US" sz="1150" dirty="0"/>
          </a:p>
        </p:txBody>
      </p:sp>
      <p:sp>
        <p:nvSpPr>
          <p:cNvPr id="120" name="Shape 118"/>
          <p:cNvSpPr/>
          <p:nvPr/>
        </p:nvSpPr>
        <p:spPr>
          <a:xfrm>
            <a:off x="365760" y="2212848"/>
            <a:ext cx="530352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1" name="Text 119"/>
          <p:cNvSpPr/>
          <p:nvPr/>
        </p:nvSpPr>
        <p:spPr>
          <a:xfrm>
            <a:off x="365760" y="2212848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122" name="Shape 120"/>
          <p:cNvSpPr/>
          <p:nvPr/>
        </p:nvSpPr>
        <p:spPr>
          <a:xfrm>
            <a:off x="1024128" y="2258568"/>
            <a:ext cx="411480" cy="4114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286000"/>
            <a:ext cx="338328" cy="338328"/>
          </a:xfrm>
          <a:prstGeom prst="rect">
            <a:avLst/>
          </a:prstGeom>
        </p:spPr>
      </p:pic>
      <p:sp>
        <p:nvSpPr>
          <p:cNvPr id="124" name="Text 121"/>
          <p:cNvSpPr/>
          <p:nvPr/>
        </p:nvSpPr>
        <p:spPr>
          <a:xfrm>
            <a:off x="1536192" y="2276856"/>
            <a:ext cx="2944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Citizen captures photo &amp; uploads issue with GPS location</a:t>
            </a:r>
            <a:endParaRPr lang="en-US" sz="1200" dirty="0"/>
          </a:p>
        </p:txBody>
      </p:sp>
      <p:sp>
        <p:nvSpPr>
          <p:cNvPr id="125" name="Shape 122"/>
          <p:cNvSpPr/>
          <p:nvPr/>
        </p:nvSpPr>
        <p:spPr>
          <a:xfrm>
            <a:off x="630936" y="2715768"/>
            <a:ext cx="0" cy="155448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365760" y="2871216"/>
            <a:ext cx="530352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7" name="Text 124"/>
          <p:cNvSpPr/>
          <p:nvPr/>
        </p:nvSpPr>
        <p:spPr>
          <a:xfrm>
            <a:off x="365760" y="2871216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128" name="Shape 125"/>
          <p:cNvSpPr/>
          <p:nvPr/>
        </p:nvSpPr>
        <p:spPr>
          <a:xfrm>
            <a:off x="1024128" y="2916936"/>
            <a:ext cx="411480" cy="4114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2944368"/>
            <a:ext cx="338328" cy="338328"/>
          </a:xfrm>
          <a:prstGeom prst="rect">
            <a:avLst/>
          </a:prstGeom>
        </p:spPr>
      </p:pic>
      <p:sp>
        <p:nvSpPr>
          <p:cNvPr id="130" name="Text 126"/>
          <p:cNvSpPr/>
          <p:nvPr/>
        </p:nvSpPr>
        <p:spPr>
          <a:xfrm>
            <a:off x="1536192" y="2935224"/>
            <a:ext cx="2944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engine verifies image and classifies the issue type</a:t>
            </a:r>
            <a:endParaRPr lang="en-US" sz="1200" dirty="0"/>
          </a:p>
        </p:txBody>
      </p:sp>
      <p:sp>
        <p:nvSpPr>
          <p:cNvPr id="131" name="Shape 127"/>
          <p:cNvSpPr/>
          <p:nvPr/>
        </p:nvSpPr>
        <p:spPr>
          <a:xfrm>
            <a:off x="630936" y="3374136"/>
            <a:ext cx="0" cy="155448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32" name="Shape 128"/>
          <p:cNvSpPr/>
          <p:nvPr/>
        </p:nvSpPr>
        <p:spPr>
          <a:xfrm>
            <a:off x="365760" y="3529584"/>
            <a:ext cx="530352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3" name="Text 129"/>
          <p:cNvSpPr/>
          <p:nvPr/>
        </p:nvSpPr>
        <p:spPr>
          <a:xfrm>
            <a:off x="365760" y="3529584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134" name="Shape 130"/>
          <p:cNvSpPr/>
          <p:nvPr/>
        </p:nvSpPr>
        <p:spPr>
          <a:xfrm>
            <a:off x="1024128" y="3575304"/>
            <a:ext cx="411480" cy="4114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3602736"/>
            <a:ext cx="338328" cy="338328"/>
          </a:xfrm>
          <a:prstGeom prst="rect">
            <a:avLst/>
          </a:prstGeom>
        </p:spPr>
      </p:pic>
      <p:sp>
        <p:nvSpPr>
          <p:cNvPr id="136" name="Text 131"/>
          <p:cNvSpPr/>
          <p:nvPr/>
        </p:nvSpPr>
        <p:spPr>
          <a:xfrm>
            <a:off x="1536192" y="3593592"/>
            <a:ext cx="2944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System auto-routes complaint to responsible department</a:t>
            </a:r>
            <a:endParaRPr lang="en-US" sz="1200" dirty="0"/>
          </a:p>
        </p:txBody>
      </p:sp>
      <p:sp>
        <p:nvSpPr>
          <p:cNvPr id="137" name="Shape 132"/>
          <p:cNvSpPr/>
          <p:nvPr/>
        </p:nvSpPr>
        <p:spPr>
          <a:xfrm>
            <a:off x="630936" y="4032504"/>
            <a:ext cx="0" cy="155448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38" name="Shape 133"/>
          <p:cNvSpPr/>
          <p:nvPr/>
        </p:nvSpPr>
        <p:spPr>
          <a:xfrm>
            <a:off x="365760" y="4187952"/>
            <a:ext cx="530352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9" name="Text 134"/>
          <p:cNvSpPr/>
          <p:nvPr/>
        </p:nvSpPr>
        <p:spPr>
          <a:xfrm>
            <a:off x="365760" y="4187952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sp>
        <p:nvSpPr>
          <p:cNvPr id="140" name="Shape 135"/>
          <p:cNvSpPr/>
          <p:nvPr/>
        </p:nvSpPr>
        <p:spPr>
          <a:xfrm>
            <a:off x="1024128" y="4233672"/>
            <a:ext cx="411480" cy="41148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4261104"/>
            <a:ext cx="338328" cy="338328"/>
          </a:xfrm>
          <a:prstGeom prst="rect">
            <a:avLst/>
          </a:prstGeom>
        </p:spPr>
      </p:pic>
      <p:sp>
        <p:nvSpPr>
          <p:cNvPr id="142" name="Text 136"/>
          <p:cNvSpPr/>
          <p:nvPr/>
        </p:nvSpPr>
        <p:spPr>
          <a:xfrm>
            <a:off x="1536192" y="4251960"/>
            <a:ext cx="2944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Department resolves issue; citizen gets notification</a:t>
            </a:r>
            <a:endParaRPr lang="en-US" sz="1200" dirty="0"/>
          </a:p>
        </p:txBody>
      </p:sp>
      <p:sp>
        <p:nvSpPr>
          <p:cNvPr id="143" name="Shape 137"/>
          <p:cNvSpPr/>
          <p:nvPr/>
        </p:nvSpPr>
        <p:spPr>
          <a:xfrm>
            <a:off x="4754880" y="868680"/>
            <a:ext cx="2011680" cy="3931920"/>
          </a:xfrm>
          <a:prstGeom prst="roundRect">
            <a:avLst>
              <a:gd name="adj" fmla="val 8182"/>
            </a:avLst>
          </a:prstGeom>
          <a:solidFill>
            <a:srgbClr val="1E293B"/>
          </a:solidFill>
          <a:ln/>
        </p:spPr>
      </p:sp>
      <p:sp>
        <p:nvSpPr>
          <p:cNvPr id="144" name="Shape 138"/>
          <p:cNvSpPr/>
          <p:nvPr/>
        </p:nvSpPr>
        <p:spPr>
          <a:xfrm>
            <a:off x="4882896" y="1115568"/>
            <a:ext cx="1755648" cy="3182112"/>
          </a:xfrm>
          <a:prstGeom prst="roundRect">
            <a:avLst>
              <a:gd name="adj" fmla="val 2604"/>
            </a:avLst>
          </a:prstGeom>
          <a:solidFill>
            <a:srgbClr val="334155"/>
          </a:solidFill>
          <a:ln/>
        </p:spPr>
      </p:sp>
      <p:sp>
        <p:nvSpPr>
          <p:cNvPr id="145" name="Shape 139"/>
          <p:cNvSpPr/>
          <p:nvPr/>
        </p:nvSpPr>
        <p:spPr>
          <a:xfrm>
            <a:off x="4882896" y="1115568"/>
            <a:ext cx="1755648" cy="384048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46" name="Text 140"/>
          <p:cNvSpPr/>
          <p:nvPr/>
        </p:nvSpPr>
        <p:spPr>
          <a:xfrm>
            <a:off x="4882896" y="1115568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Civic Seva</a:t>
            </a:r>
            <a:endParaRPr lang="en-US" sz="900" dirty="0"/>
          </a:p>
        </p:txBody>
      </p:sp>
      <p:sp>
        <p:nvSpPr>
          <p:cNvPr id="147" name="Shape 141"/>
          <p:cNvSpPr/>
          <p:nvPr/>
        </p:nvSpPr>
        <p:spPr>
          <a:xfrm>
            <a:off x="4956048" y="1572768"/>
            <a:ext cx="1609344" cy="7498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8" name="Shape 142"/>
          <p:cNvSpPr/>
          <p:nvPr/>
        </p:nvSpPr>
        <p:spPr>
          <a:xfrm>
            <a:off x="4956048" y="1572768"/>
            <a:ext cx="64008" cy="7498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9" name="Text 143"/>
          <p:cNvSpPr/>
          <p:nvPr/>
        </p:nvSpPr>
        <p:spPr>
          <a:xfrm>
            <a:off x="5047488" y="160934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F9FF"/>
                </a:solidFill>
              </a:rPr>
              <a:t>Pothole Reported</a:t>
            </a:r>
            <a:endParaRPr lang="en-US" sz="800" dirty="0"/>
          </a:p>
        </p:txBody>
      </p:sp>
      <p:sp>
        <p:nvSpPr>
          <p:cNvPr id="150" name="Text 144"/>
          <p:cNvSpPr/>
          <p:nvPr/>
        </p:nvSpPr>
        <p:spPr>
          <a:xfrm>
            <a:off x="5047488" y="190195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Under Review  |  2 hrs ago</a:t>
            </a:r>
            <a:endParaRPr lang="en-US" sz="700" dirty="0"/>
          </a:p>
        </p:txBody>
      </p:sp>
      <p:sp>
        <p:nvSpPr>
          <p:cNvPr id="151" name="Shape 145"/>
          <p:cNvSpPr/>
          <p:nvPr/>
        </p:nvSpPr>
        <p:spPr>
          <a:xfrm>
            <a:off x="4956048" y="2395728"/>
            <a:ext cx="1609344" cy="7498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2" name="Shape 146"/>
          <p:cNvSpPr/>
          <p:nvPr/>
        </p:nvSpPr>
        <p:spPr>
          <a:xfrm>
            <a:off x="4956048" y="2395728"/>
            <a:ext cx="64008" cy="7498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3" name="Text 147"/>
          <p:cNvSpPr/>
          <p:nvPr/>
        </p:nvSpPr>
        <p:spPr>
          <a:xfrm>
            <a:off x="5047488" y="243230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0F9FF"/>
                </a:solidFill>
              </a:rPr>
              <a:t>Street Light Fixed</a:t>
            </a:r>
            <a:endParaRPr lang="en-US" sz="800" dirty="0"/>
          </a:p>
        </p:txBody>
      </p:sp>
      <p:sp>
        <p:nvSpPr>
          <p:cNvPr id="154" name="Text 148"/>
          <p:cNvSpPr/>
          <p:nvPr/>
        </p:nvSpPr>
        <p:spPr>
          <a:xfrm>
            <a:off x="5047488" y="2724912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Resolved  |  1 day ago</a:t>
            </a:r>
            <a:endParaRPr lang="en-US" sz="700" dirty="0"/>
          </a:p>
        </p:txBody>
      </p:sp>
      <p:sp>
        <p:nvSpPr>
          <p:cNvPr id="155" name="Shape 149"/>
          <p:cNvSpPr/>
          <p:nvPr/>
        </p:nvSpPr>
        <p:spPr>
          <a:xfrm>
            <a:off x="5230368" y="3931920"/>
            <a:ext cx="91440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6" name="Text 150"/>
          <p:cNvSpPr/>
          <p:nvPr/>
        </p:nvSpPr>
        <p:spPr>
          <a:xfrm>
            <a:off x="5230368" y="39319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+ Report Issue</a:t>
            </a:r>
            <a:endParaRPr lang="en-US" sz="750" dirty="0"/>
          </a:p>
        </p:txBody>
      </p:sp>
      <p:sp>
        <p:nvSpPr>
          <p:cNvPr id="157" name="Shape 151"/>
          <p:cNvSpPr/>
          <p:nvPr/>
        </p:nvSpPr>
        <p:spPr>
          <a:xfrm>
            <a:off x="5486400" y="896112"/>
            <a:ext cx="548640" cy="109728"/>
          </a:xfrm>
          <a:prstGeom prst="roundRect">
            <a:avLst>
              <a:gd name="adj" fmla="val 41667"/>
            </a:avLst>
          </a:prstGeom>
          <a:solidFill>
            <a:srgbClr val="334155"/>
          </a:solidFill>
          <a:ln/>
        </p:spPr>
      </p:sp>
      <p:sp>
        <p:nvSpPr>
          <p:cNvPr id="158" name="Shape 152"/>
          <p:cNvSpPr/>
          <p:nvPr/>
        </p:nvSpPr>
        <p:spPr>
          <a:xfrm>
            <a:off x="6903720" y="987552"/>
            <a:ext cx="1965960" cy="3291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9" name="Shape 153"/>
          <p:cNvSpPr/>
          <p:nvPr/>
        </p:nvSpPr>
        <p:spPr>
          <a:xfrm>
            <a:off x="6903720" y="987552"/>
            <a:ext cx="1965960" cy="347472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60" name="Text 154"/>
          <p:cNvSpPr/>
          <p:nvPr/>
        </p:nvSpPr>
        <p:spPr>
          <a:xfrm>
            <a:off x="6903720" y="98755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Admin Dashboard</a:t>
            </a:r>
            <a:endParaRPr lang="en-US" sz="800" dirty="0"/>
          </a:p>
        </p:txBody>
      </p:sp>
      <p:sp>
        <p:nvSpPr>
          <p:cNvPr id="161" name="Shape 155"/>
          <p:cNvSpPr/>
          <p:nvPr/>
        </p:nvSpPr>
        <p:spPr>
          <a:xfrm>
            <a:off x="7022592" y="2103120"/>
            <a:ext cx="219456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2" name="Shape 156"/>
          <p:cNvSpPr/>
          <p:nvPr/>
        </p:nvSpPr>
        <p:spPr>
          <a:xfrm>
            <a:off x="7351776" y="2560320"/>
            <a:ext cx="219456" cy="640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63" name="Shape 157"/>
          <p:cNvSpPr/>
          <p:nvPr/>
        </p:nvSpPr>
        <p:spPr>
          <a:xfrm>
            <a:off x="7680960" y="1828800"/>
            <a:ext cx="219456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4" name="Shape 158"/>
          <p:cNvSpPr/>
          <p:nvPr/>
        </p:nvSpPr>
        <p:spPr>
          <a:xfrm>
            <a:off x="8010144" y="2377440"/>
            <a:ext cx="219456" cy="8229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65" name="Shape 159"/>
          <p:cNvSpPr/>
          <p:nvPr/>
        </p:nvSpPr>
        <p:spPr>
          <a:xfrm>
            <a:off x="8339328" y="2194560"/>
            <a:ext cx="219456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6" name="Shape 160"/>
          <p:cNvSpPr/>
          <p:nvPr/>
        </p:nvSpPr>
        <p:spPr>
          <a:xfrm>
            <a:off x="6967728" y="3200400"/>
            <a:ext cx="17373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7" name="Shape 161"/>
          <p:cNvSpPr/>
          <p:nvPr/>
        </p:nvSpPr>
        <p:spPr>
          <a:xfrm>
            <a:off x="6967728" y="1417320"/>
            <a:ext cx="530352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8" name="Text 162"/>
          <p:cNvSpPr/>
          <p:nvPr/>
        </p:nvSpPr>
        <p:spPr>
          <a:xfrm>
            <a:off x="6967728" y="141732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4B8A6"/>
                </a:solidFill>
              </a:rPr>
              <a:t>42 Open</a:t>
            </a:r>
            <a:endParaRPr lang="en-US" sz="700" dirty="0"/>
          </a:p>
        </p:txBody>
      </p:sp>
      <p:sp>
        <p:nvSpPr>
          <p:cNvPr id="169" name="Shape 163"/>
          <p:cNvSpPr/>
          <p:nvPr/>
        </p:nvSpPr>
        <p:spPr>
          <a:xfrm>
            <a:off x="7589520" y="1417320"/>
            <a:ext cx="530352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0" name="Text 164"/>
          <p:cNvSpPr/>
          <p:nvPr/>
        </p:nvSpPr>
        <p:spPr>
          <a:xfrm>
            <a:off x="7589520" y="141732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4B8A6"/>
                </a:solidFill>
              </a:rPr>
              <a:t>18 Fixed</a:t>
            </a:r>
            <a:endParaRPr lang="en-US" sz="700" dirty="0"/>
          </a:p>
        </p:txBody>
      </p:sp>
      <p:sp>
        <p:nvSpPr>
          <p:cNvPr id="171" name="Shape 165"/>
          <p:cNvSpPr/>
          <p:nvPr/>
        </p:nvSpPr>
        <p:spPr>
          <a:xfrm>
            <a:off x="8211312" y="1417320"/>
            <a:ext cx="530352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2" name="Text 166"/>
          <p:cNvSpPr/>
          <p:nvPr/>
        </p:nvSpPr>
        <p:spPr>
          <a:xfrm>
            <a:off x="8211312" y="1417320"/>
            <a:ext cx="53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4B8A6"/>
                </a:solidFill>
              </a:rPr>
              <a:t>3 Urgent</a:t>
            </a:r>
            <a:endParaRPr lang="en-US" sz="700" dirty="0"/>
          </a:p>
        </p:txBody>
      </p:sp>
      <p:sp>
        <p:nvSpPr>
          <p:cNvPr id="173" name="Shape 167"/>
          <p:cNvSpPr/>
          <p:nvPr/>
        </p:nvSpPr>
        <p:spPr>
          <a:xfrm>
            <a:off x="0" y="4626864"/>
            <a:ext cx="9144000" cy="51663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4" name="Text 168"/>
          <p:cNvSpPr/>
          <p:nvPr/>
        </p:nvSpPr>
        <p:spPr>
          <a:xfrm>
            <a:off x="0" y="4626864"/>
            <a:ext cx="914400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One platform. Every civic problem. Transparent &amp; trackable resolution.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INTERFACES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1051560"/>
            <a:ext cx="2816352" cy="3858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1051560"/>
            <a:ext cx="2816352" cy="6400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07899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1078992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User Interface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96112" y="1371600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2F0FF"/>
                </a:solidFill>
              </a:rPr>
              <a:t>For Citizens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93192" y="1783080"/>
            <a:ext cx="2542032" cy="3035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Register &amp; login securely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Upload issue photos with auto-location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Track complaint status in real-time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Earn reward points as a volunteer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Multi-language &amp; voice input support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View nearby reported issues on map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1051560"/>
            <a:ext cx="2816352" cy="3858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051560"/>
            <a:ext cx="2816352" cy="64008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078992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40480" y="1078992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Department Interface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840480" y="1371600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2F0FF"/>
                </a:solidFill>
              </a:rPr>
              <a:t>For Government Dept.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337560" y="1783080"/>
            <a:ext cx="2542032" cy="3035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View assigned complaints on map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Update resolution status &amp; add proof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Priority queue for urgent issues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Departmental analytics dashboard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Collaborate across sub-departments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Receive auto-escalation alerts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44768" y="1051560"/>
            <a:ext cx="2816352" cy="3858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44768" y="1051560"/>
            <a:ext cx="2816352" cy="6400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078992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84848" y="1078992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Admin Interface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784848" y="1371600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2F0FF"/>
                </a:solidFill>
              </a:rPr>
              <a:t>Government / Admin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6281928" y="1783080"/>
            <a:ext cx="2542032" cy="3035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City-wide complaint overview map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Performance metrics per department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Set SLA &amp; escalation rules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Generate public transparency reports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Manage user roles &amp; access controls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Policy-level issue trend analysis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816352" cy="175564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816352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Shape 4"/>
          <p:cNvSpPr/>
          <p:nvPr/>
        </p:nvSpPr>
        <p:spPr>
          <a:xfrm>
            <a:off x="438912" y="1188720"/>
            <a:ext cx="548640" cy="54864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667" y="128747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261872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BDF8"/>
                </a:solidFill>
              </a:rPr>
              <a:t>Image Upload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38912" y="1847088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Citizens capture and upload photo evidence of civic issues directly from their mobile device.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18688" y="1005840"/>
            <a:ext cx="2816352" cy="175564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18688" y="1005840"/>
            <a:ext cx="28163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9"/>
          <p:cNvSpPr/>
          <p:nvPr/>
        </p:nvSpPr>
        <p:spPr>
          <a:xfrm>
            <a:off x="3383280" y="118872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035" y="1287475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59936" y="1261872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</a:rPr>
              <a:t>Location Detection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383280" y="1847088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Auto-detects GPS coordinates. Issues are pinned on an interactive live city map.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63056" y="1005840"/>
            <a:ext cx="2816352" cy="175564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63056" y="1005840"/>
            <a:ext cx="2816352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Shape 14"/>
          <p:cNvSpPr/>
          <p:nvPr/>
        </p:nvSpPr>
        <p:spPr>
          <a:xfrm>
            <a:off x="6327648" y="118872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403" y="1287475"/>
            <a:ext cx="351130" cy="35113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004304" y="1261872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B8A6"/>
                </a:solidFill>
              </a:rPr>
              <a:t>Complaint Tracking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327648" y="1847088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Real-time status updates from Submitted through In Progress to Resolved.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274320" y="2907792"/>
            <a:ext cx="2816352" cy="175564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74320" y="2907792"/>
            <a:ext cx="28163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19"/>
          <p:cNvSpPr/>
          <p:nvPr/>
        </p:nvSpPr>
        <p:spPr>
          <a:xfrm>
            <a:off x="438912" y="3090672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67" y="3189427"/>
            <a:ext cx="351130" cy="35113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15568" y="3163824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</a:rPr>
              <a:t>Reward System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438912" y="3749040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Volunteers earn points for valid reports, redeemable for civic benefits and recognition.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3218688" y="2907792"/>
            <a:ext cx="2816352" cy="175564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218688" y="2907792"/>
            <a:ext cx="2816352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0" name="Shape 24"/>
          <p:cNvSpPr/>
          <p:nvPr/>
        </p:nvSpPr>
        <p:spPr>
          <a:xfrm>
            <a:off x="3383280" y="3090672"/>
            <a:ext cx="548640" cy="54864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2035" y="3189427"/>
            <a:ext cx="351130" cy="35113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059936" y="3163824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BDF8"/>
                </a:solidFill>
              </a:rPr>
              <a:t>Multilingual Support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3383280" y="3749040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Available in regional languages including Telugu, Hindi, and English for inclusivity.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163056" y="2907792"/>
            <a:ext cx="2816352" cy="175564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163056" y="2907792"/>
            <a:ext cx="281635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Shape 29"/>
          <p:cNvSpPr/>
          <p:nvPr/>
        </p:nvSpPr>
        <p:spPr>
          <a:xfrm>
            <a:off x="6327648" y="3090672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6403" y="3189427"/>
            <a:ext cx="351130" cy="35113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004304" y="3163824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</a:rPr>
              <a:t>Microphone Input</a:t>
            </a:r>
            <a:endParaRPr lang="en-US" sz="1350" dirty="0"/>
          </a:p>
        </p:txBody>
      </p:sp>
      <p:sp>
        <p:nvSpPr>
          <p:cNvPr id="39" name="Text 31"/>
          <p:cNvSpPr/>
          <p:nvPr/>
        </p:nvSpPr>
        <p:spPr>
          <a:xfrm>
            <a:off x="6327648" y="3749040"/>
            <a:ext cx="24688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Voice-based complaint description for accessible, hands-free reporting on any device.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155448"/>
            <a:ext cx="658368" cy="65836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674" y="273954"/>
            <a:ext cx="421356" cy="4213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4128" y="182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56032" y="1051560"/>
            <a:ext cx="3566160" cy="37947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7" name="Shape 4"/>
          <p:cNvSpPr/>
          <p:nvPr/>
        </p:nvSpPr>
        <p:spPr>
          <a:xfrm>
            <a:off x="758952" y="260604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5"/>
          <p:cNvSpPr/>
          <p:nvPr/>
        </p:nvSpPr>
        <p:spPr>
          <a:xfrm>
            <a:off x="1124712" y="2286000"/>
            <a:ext cx="182880" cy="1828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9" name="Shape 6"/>
          <p:cNvSpPr/>
          <p:nvPr/>
        </p:nvSpPr>
        <p:spPr>
          <a:xfrm>
            <a:off x="1124712" y="2926080"/>
            <a:ext cx="182880" cy="1828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0" name="Shape 7"/>
          <p:cNvSpPr/>
          <p:nvPr/>
        </p:nvSpPr>
        <p:spPr>
          <a:xfrm>
            <a:off x="1581912" y="2075688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Shape 8"/>
          <p:cNvSpPr/>
          <p:nvPr/>
        </p:nvSpPr>
        <p:spPr>
          <a:xfrm>
            <a:off x="1581912" y="2560320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Shape 9"/>
          <p:cNvSpPr/>
          <p:nvPr/>
        </p:nvSpPr>
        <p:spPr>
          <a:xfrm>
            <a:off x="1581912" y="3044952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Shape 10"/>
          <p:cNvSpPr/>
          <p:nvPr/>
        </p:nvSpPr>
        <p:spPr>
          <a:xfrm>
            <a:off x="1581912" y="3566160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Shape 11"/>
          <p:cNvSpPr/>
          <p:nvPr/>
        </p:nvSpPr>
        <p:spPr>
          <a:xfrm>
            <a:off x="2039112" y="2286000"/>
            <a:ext cx="182880" cy="1828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5" name="Shape 12"/>
          <p:cNvSpPr/>
          <p:nvPr/>
        </p:nvSpPr>
        <p:spPr>
          <a:xfrm>
            <a:off x="2039112" y="2926080"/>
            <a:ext cx="182880" cy="1828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6" name="Shape 13"/>
          <p:cNvSpPr/>
          <p:nvPr/>
        </p:nvSpPr>
        <p:spPr>
          <a:xfrm>
            <a:off x="2404872" y="260604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Shape 14"/>
          <p:cNvSpPr/>
          <p:nvPr/>
        </p:nvSpPr>
        <p:spPr>
          <a:xfrm>
            <a:off x="850392" y="2697480"/>
            <a:ext cx="365760" cy="-320040"/>
          </a:xfrm>
          <a:prstGeom prst="line">
            <a:avLst/>
          </a:prstGeom>
          <a:noFill/>
          <a:ln w="10160">
            <a:solidFill>
              <a:srgbClr val="0D948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50392" y="2697480"/>
            <a:ext cx="365760" cy="320040"/>
          </a:xfrm>
          <a:prstGeom prst="line">
            <a:avLst/>
          </a:prstGeom>
          <a:noFill/>
          <a:ln w="10160">
            <a:solidFill>
              <a:srgbClr val="0D948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216152" y="2377440"/>
            <a:ext cx="457200" cy="-210312"/>
          </a:xfrm>
          <a:prstGeom prst="line">
            <a:avLst/>
          </a:prstGeom>
          <a:noFill/>
          <a:ln w="10160">
            <a:solidFill>
              <a:srgbClr val="0D948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216152" y="2377440"/>
            <a:ext cx="457200" cy="274320"/>
          </a:xfrm>
          <a:prstGeom prst="line">
            <a:avLst/>
          </a:prstGeom>
          <a:noFill/>
          <a:ln w="10160">
            <a:solidFill>
              <a:srgbClr val="0D948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216152" y="3017520"/>
            <a:ext cx="457200" cy="118872"/>
          </a:xfrm>
          <a:prstGeom prst="line">
            <a:avLst/>
          </a:prstGeom>
          <a:noFill/>
          <a:ln w="10160">
            <a:solidFill>
              <a:srgbClr val="0D948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673352" y="2167128"/>
            <a:ext cx="0" cy="969264"/>
          </a:xfrm>
          <a:prstGeom prst="line">
            <a:avLst/>
          </a:prstGeom>
          <a:noFill/>
          <a:ln w="10160">
            <a:solidFill>
              <a:srgbClr val="0D948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673352" y="2651760"/>
            <a:ext cx="0" cy="1005840"/>
          </a:xfrm>
          <a:prstGeom prst="line">
            <a:avLst/>
          </a:prstGeom>
          <a:noFill/>
          <a:ln w="10160">
            <a:solidFill>
              <a:srgbClr val="0D948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673352" y="3136392"/>
            <a:ext cx="457200" cy="-758952"/>
          </a:xfrm>
          <a:prstGeom prst="line">
            <a:avLst/>
          </a:prstGeom>
          <a:noFill/>
          <a:ln w="10160">
            <a:solidFill>
              <a:srgbClr val="0D948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673352" y="3657600"/>
            <a:ext cx="457200" cy="-1280160"/>
          </a:xfrm>
          <a:prstGeom prst="line">
            <a:avLst/>
          </a:prstGeom>
          <a:noFill/>
          <a:ln w="10160">
            <a:solidFill>
              <a:srgbClr val="0D94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56032" y="384048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AI-Powered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Civic Platform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023360" y="1051560"/>
            <a:ext cx="4919472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023360" y="1051560"/>
            <a:ext cx="82296" cy="8046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Shape 26"/>
          <p:cNvSpPr/>
          <p:nvPr/>
        </p:nvSpPr>
        <p:spPr>
          <a:xfrm>
            <a:off x="4160520" y="1234440"/>
            <a:ext cx="438912" cy="438912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9524" y="1313444"/>
            <a:ext cx="280904" cy="280904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4709160" y="1106424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Image Verification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4709160" y="143560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TensorFlow/OpenCV models verify submitted photos are genuine civic issues and filter irrelevant content.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4023360" y="1938528"/>
            <a:ext cx="4919472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4023360" y="1938528"/>
            <a:ext cx="82296" cy="8046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Shape 31"/>
          <p:cNvSpPr/>
          <p:nvPr/>
        </p:nvSpPr>
        <p:spPr>
          <a:xfrm>
            <a:off x="4160520" y="2121408"/>
            <a:ext cx="438912" cy="438912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9524" y="2200412"/>
            <a:ext cx="280904" cy="280904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4709160" y="199339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Issue Classification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4709160" y="232257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NLP &amp; computer vision classify complaints into categories and auto-route them to correct departments.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4023360" y="2825496"/>
            <a:ext cx="4919472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4023360" y="2825496"/>
            <a:ext cx="82296" cy="8046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Shape 36"/>
          <p:cNvSpPr/>
          <p:nvPr/>
        </p:nvSpPr>
        <p:spPr>
          <a:xfrm>
            <a:off x="4160520" y="3008376"/>
            <a:ext cx="438912" cy="438912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9524" y="3087380"/>
            <a:ext cx="280904" cy="280904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4709160" y="288036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Duplicate Detection</a:t>
            </a:r>
            <a:endParaRPr lang="en-US" sz="1300" dirty="0"/>
          </a:p>
        </p:txBody>
      </p:sp>
      <p:sp>
        <p:nvSpPr>
          <p:cNvPr id="44" name="Text 38"/>
          <p:cNvSpPr/>
          <p:nvPr/>
        </p:nvSpPr>
        <p:spPr>
          <a:xfrm>
            <a:off x="4709160" y="3209544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Geo-spatial clustering detects overlapping complaints, merges duplicates, and prevents system flooding.</a:t>
            </a:r>
            <a:endParaRPr lang="en-US" sz="1000" dirty="0"/>
          </a:p>
        </p:txBody>
      </p:sp>
      <p:sp>
        <p:nvSpPr>
          <p:cNvPr id="45" name="Shape 39"/>
          <p:cNvSpPr/>
          <p:nvPr/>
        </p:nvSpPr>
        <p:spPr>
          <a:xfrm>
            <a:off x="4023360" y="3712464"/>
            <a:ext cx="4919472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0"/>
          <p:cNvSpPr/>
          <p:nvPr/>
        </p:nvSpPr>
        <p:spPr>
          <a:xfrm>
            <a:off x="4023360" y="3712464"/>
            <a:ext cx="82296" cy="8046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7" name="Shape 41"/>
          <p:cNvSpPr/>
          <p:nvPr/>
        </p:nvSpPr>
        <p:spPr>
          <a:xfrm>
            <a:off x="4160520" y="3895344"/>
            <a:ext cx="438912" cy="438912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9524" y="3974348"/>
            <a:ext cx="280904" cy="280904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4709160" y="3767328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Smart Prioritization</a:t>
            </a:r>
            <a:endParaRPr lang="en-US" sz="1300" dirty="0"/>
          </a:p>
        </p:txBody>
      </p:sp>
      <p:sp>
        <p:nvSpPr>
          <p:cNvPr id="50" name="Text 43"/>
          <p:cNvSpPr/>
          <p:nvPr/>
        </p:nvSpPr>
        <p:spPr>
          <a:xfrm>
            <a:off x="4709160" y="409651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scores urgency based on severity, location density, weather data, and historical resolution times.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816352" cy="175564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816352" cy="502920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6984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109728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Frontend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1600200"/>
            <a:ext cx="24871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HTML5 &amp; CSS3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JavaScript (ES6+)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React.js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18688" y="1005840"/>
            <a:ext cx="2816352" cy="175564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18688" y="1005840"/>
            <a:ext cx="2816352" cy="5029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106984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85616" y="109728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Backend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401568" y="1600200"/>
            <a:ext cx="24871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Node.js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Express.js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REST APIs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63056" y="1005840"/>
            <a:ext cx="2816352" cy="175564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63056" y="1005840"/>
            <a:ext cx="2816352" cy="5029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069848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29984" y="109728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Database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345936" y="1600200"/>
            <a:ext cx="24871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MongoDB (NoSQL)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MySQL (Relational)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Mongoose ORM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274320" y="2907792"/>
            <a:ext cx="2816352" cy="175564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74320" y="2907792"/>
            <a:ext cx="2816352" cy="502920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971800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1248" y="2999232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AI / ML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57200" y="3502152"/>
            <a:ext cx="24871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Python 3.x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TensorFlow 2.x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OpenCV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3218688" y="2907792"/>
            <a:ext cx="2816352" cy="175564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18688" y="2907792"/>
            <a:ext cx="2816352" cy="50292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2971800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785616" y="2999232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Maps &amp; Location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3401568" y="3502152"/>
            <a:ext cx="24871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Google Maps API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Geolocation API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Geocoding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163056" y="2907792"/>
            <a:ext cx="2816352" cy="175564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63056" y="2907792"/>
            <a:ext cx="2816352" cy="5029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6" y="2971800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29984" y="2999232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Auth &amp; Infra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6345936" y="3502152"/>
            <a:ext cx="24871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JWT Authentication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Firebase / AWS S3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GitHub CI/CD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548640" cy="28529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743200"/>
            <a:ext cx="411480" cy="23957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828800"/>
            <a:ext cx="731520" cy="33101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1554480" y="2468880"/>
            <a:ext cx="457200" cy="2670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1965960" y="2011680"/>
            <a:ext cx="594360" cy="31272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0" y="2377440"/>
            <a:ext cx="594360" cy="27614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0" y="1920240"/>
            <a:ext cx="777240" cy="32186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0" y="2468880"/>
            <a:ext cx="548640" cy="2670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Shape 8"/>
          <p:cNvSpPr/>
          <p:nvPr/>
        </p:nvSpPr>
        <p:spPr>
          <a:xfrm>
            <a:off x="8366760" y="2194560"/>
            <a:ext cx="777240" cy="29443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2651760" y="1051560"/>
            <a:ext cx="2999232" cy="166420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51760" y="1051560"/>
            <a:ext cx="2999232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0" y="1143000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100%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743200" y="182880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Transparent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005072" y="1188720"/>
            <a:ext cx="54864" cy="13898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4160520" y="11430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</a:rPr>
              <a:t>Government Transparency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160520" y="1508760"/>
            <a:ext cx="1371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complaint is publicly logged and tracked — no complaint goes unseen or unaddressed by authorities.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897880" y="1051560"/>
            <a:ext cx="2999232" cy="166420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897880" y="1051560"/>
            <a:ext cx="2999232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5989320" y="1143000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</a:rPr>
              <a:t>3x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989320" y="182880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Engagement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251192" y="1188720"/>
            <a:ext cx="54864" cy="13898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7406640" y="11430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</a:rPr>
              <a:t>Citizen Participation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406640" y="1508760"/>
            <a:ext cx="1371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Reward systems and easy mobile reporting drive unprecedented levels of civic engagement across all demographics.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651760" y="2862072"/>
            <a:ext cx="2999232" cy="166420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651760" y="2862072"/>
            <a:ext cx="2999232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0" y="2953512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</a:rPr>
              <a:t>60%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2743200" y="363931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Faster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005072" y="2999232"/>
            <a:ext cx="54864" cy="13898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4" name="Text 32"/>
          <p:cNvSpPr/>
          <p:nvPr/>
        </p:nvSpPr>
        <p:spPr>
          <a:xfrm>
            <a:off x="4160520" y="295351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Faster Complaint Resolution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160520" y="3319272"/>
            <a:ext cx="1371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Auto-routing and AI triage reduce average complaint resolution time by over 60% compared to traditional systems.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897880" y="2862072"/>
            <a:ext cx="2999232" cy="166420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27000" dist="38100" dir="8100000">
              <a:srgbClr val="000000">
                <a:alpha val="4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897880" y="2862072"/>
            <a:ext cx="2999232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5989320" y="2953512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Smart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5989320" y="363931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Data-Driven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251192" y="2999232"/>
            <a:ext cx="54864" cy="13898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1" name="Text 39"/>
          <p:cNvSpPr/>
          <p:nvPr/>
        </p:nvSpPr>
        <p:spPr>
          <a:xfrm>
            <a:off x="7406640" y="295351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</a:rPr>
              <a:t>Smarter City Management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406640" y="3319272"/>
            <a:ext cx="1371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Real-time dashboards enable evidence-based urban planning, resource allocation, and proactive city maintenance.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0" y="4626864"/>
            <a:ext cx="9144000" cy="51663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4" name="Text 42"/>
          <p:cNvSpPr/>
          <p:nvPr/>
        </p:nvSpPr>
        <p:spPr>
          <a:xfrm>
            <a:off x="0" y="4626864"/>
            <a:ext cx="914400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Civic Seva — Bridging Citizens &amp; Government for a Smarter, Cleaner City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Civic Seva – Smart Civic Issue Reporting and Resolution Platform</dc:title>
  <dc:subject>PptxGenJS Presentation</dc:subject>
  <dc:creator>PptxGenJS</dc:creator>
  <cp:lastModifiedBy>PptxGenJS</cp:lastModifiedBy>
  <cp:revision>1</cp:revision>
  <dcterms:created xsi:type="dcterms:W3CDTF">2026-03-10T17:01:26Z</dcterms:created>
  <dcterms:modified xsi:type="dcterms:W3CDTF">2026-03-10T17:01:26Z</dcterms:modified>
</cp:coreProperties>
</file>